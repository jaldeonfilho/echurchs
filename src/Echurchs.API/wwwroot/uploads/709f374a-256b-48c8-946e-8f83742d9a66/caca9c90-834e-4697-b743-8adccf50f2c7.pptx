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64" r:id="rId3"/>
    <p:sldId id="276" r:id="rId4"/>
    <p:sldId id="277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D93D6763-B79E-4671-95C3-646D5E32A313}">
          <p14:sldIdLst>
            <p14:sldId id="256"/>
            <p14:sldId id="264"/>
            <p14:sldId id="276"/>
            <p14:sldId id="277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ldeon Calixto dos Santos Filho" initials="JC" lastIdx="1" clrIdx="0">
    <p:extLst>
      <p:ext uri="{19B8F6BF-5375-455C-9EA6-DF929625EA0E}">
        <p15:presenceInfo xmlns:p15="http://schemas.microsoft.com/office/powerpoint/2012/main" userId="8eca82ce58e1f31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1T17:05:38.748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250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517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098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9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745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087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413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5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459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659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133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84CE6-37B1-4279-B17E-766F3052FD0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0DAD57A-9437-40DC-8F9D-ABC82E279B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259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6D7F9-606D-09C3-569F-B62CF2E54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9673481" cy="1071095"/>
          </a:xfrm>
        </p:spPr>
        <p:txBody>
          <a:bodyPr>
            <a:noAutofit/>
          </a:bodyPr>
          <a:lstStyle/>
          <a:p>
            <a:r>
              <a:rPr lang="pt-PT" sz="5400" b="1" dirty="0"/>
              <a:t>Estudo Bíblico Efésios 1:1-14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924E9D-5B11-8269-BD18-6017FE82F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403" y="2298956"/>
            <a:ext cx="9536747" cy="709164"/>
          </a:xfrm>
        </p:spPr>
        <p:txBody>
          <a:bodyPr>
            <a:noAutofit/>
          </a:bodyPr>
          <a:lstStyle/>
          <a:p>
            <a:pPr lvl="0"/>
            <a:r>
              <a:rPr lang="pt-PT" sz="3200" b="1" dirty="0"/>
              <a:t>A Igreja de Deus: O Povo Mais Rico do Mundo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89A6DB9-32FC-CC1B-1B23-761444B07697}"/>
              </a:ext>
            </a:extLst>
          </p:cNvPr>
          <p:cNvSpPr txBox="1">
            <a:spLocks/>
          </p:cNvSpPr>
          <p:nvPr/>
        </p:nvSpPr>
        <p:spPr>
          <a:xfrm>
            <a:off x="1128403" y="3236090"/>
            <a:ext cx="8637072" cy="1071095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pt-PT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306A691E-FA83-38C6-8EBB-4EB5844D992B}"/>
              </a:ext>
            </a:extLst>
          </p:cNvPr>
          <p:cNvSpPr txBox="1">
            <a:spLocks/>
          </p:cNvSpPr>
          <p:nvPr/>
        </p:nvSpPr>
        <p:spPr>
          <a:xfrm>
            <a:off x="1128403" y="3236090"/>
            <a:ext cx="9536747" cy="2199035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dirty="0"/>
              <a:t>"Bendito o Deus e Pai de nosso Senhor Jesus Cristo, que nos abençoou com todas as bênçãos espirituais..." (Efésios 1:3)</a:t>
            </a:r>
            <a:endParaRPr lang="pt-PT" sz="2400" b="1" dirty="0"/>
          </a:p>
        </p:txBody>
      </p:sp>
    </p:spTree>
    <p:extLst>
      <p:ext uri="{BB962C8B-B14F-4D97-AF65-F5344CB8AC3E}">
        <p14:creationId xmlns:p14="http://schemas.microsoft.com/office/powerpoint/2010/main" val="68135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753E3-52D5-01CA-037E-EC9FFC887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833683"/>
            <a:ext cx="9603275" cy="909659"/>
          </a:xfrm>
        </p:spPr>
        <p:txBody>
          <a:bodyPr>
            <a:normAutofit fontScale="90000"/>
          </a:bodyPr>
          <a:lstStyle/>
          <a:p>
            <a:pPr algn="ctr"/>
            <a:r>
              <a:rPr lang="pt-PT" sz="4000" b="1" dirty="0"/>
              <a:t>Introdução à Carta</a:t>
            </a:r>
            <a:br>
              <a:rPr lang="pt-PT" b="1" dirty="0"/>
            </a:br>
            <a:r>
              <a:rPr lang="pt-PT" sz="3100" b="1" dirty="0"/>
              <a:t>O Contexto de Efésios</a:t>
            </a:r>
            <a:endParaRPr lang="pt-PT" sz="310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3714425-53AB-D546-A6C4-3F9C7047D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102" y="1897166"/>
            <a:ext cx="11408635" cy="412715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3200" b="1" dirty="0">
                <a:latin typeface="Google Sans"/>
              </a:rPr>
              <a:t>Autor e Local: </a:t>
            </a:r>
            <a:r>
              <a:rPr lang="pt-PT" altLang="pt-PT" sz="3200" dirty="0">
                <a:latin typeface="Google Sans"/>
              </a:rPr>
              <a:t>Escrita pelo Apóstolo Paulo enquanto estava preso em Roma.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2600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3200" b="1" dirty="0">
                <a:latin typeface="Google Sans"/>
              </a:rPr>
              <a:t>Estilo Único: </a:t>
            </a:r>
            <a:r>
              <a:rPr lang="pt-PT" altLang="pt-PT" sz="3200" dirty="0">
                <a:latin typeface="Google Sans"/>
              </a:rPr>
              <a:t>Os versículos 3-14 formam uma única e grandiosa frase de louvor no grego original.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2600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3200" b="1" dirty="0">
                <a:latin typeface="Google Sans"/>
              </a:rPr>
              <a:t>O Foco do Estudo: </a:t>
            </a:r>
            <a:r>
              <a:rPr lang="pt-PT" altLang="pt-PT" sz="3200" dirty="0">
                <a:latin typeface="Google Sans"/>
              </a:rPr>
              <a:t>Paulo não foca nos problemas locais, mas nas riquezas eternas concedidas à Igreja.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dirty="0"/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DD8FACA-6552-69CC-DF7B-CBA9DF061DB6}"/>
              </a:ext>
            </a:extLst>
          </p:cNvPr>
          <p:cNvSpPr txBox="1">
            <a:spLocks/>
          </p:cNvSpPr>
          <p:nvPr/>
        </p:nvSpPr>
        <p:spPr>
          <a:xfrm>
            <a:off x="299101" y="6255521"/>
            <a:ext cx="11408635" cy="487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PT" b="1" dirty="0"/>
              <a:t>A teologia é o fundamento da nossa vida e da nossa adoração.</a:t>
            </a:r>
            <a:endParaRPr lang="pt-PT" altLang="pt-PT" sz="3200" b="1" dirty="0">
              <a:latin typeface="Google San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6138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7585A-5D07-6CF1-88C6-7C0833819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6BAA1-4A0A-2AC9-2336-134332386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833683"/>
            <a:ext cx="9603275" cy="909659"/>
          </a:xfrm>
        </p:spPr>
        <p:txBody>
          <a:bodyPr>
            <a:normAutofit fontScale="90000"/>
          </a:bodyPr>
          <a:lstStyle/>
          <a:p>
            <a:pPr algn="ctr"/>
            <a:r>
              <a:rPr lang="pt-PT" sz="4000" b="1" dirty="0"/>
              <a:t>O Nosso Endereço Espiritual</a:t>
            </a:r>
            <a:br>
              <a:rPr lang="pt-PT" b="1" dirty="0"/>
            </a:br>
            <a:r>
              <a:rPr lang="pt-PT" sz="3100" b="1" dirty="0"/>
              <a:t>Onde Estão as Nossas Riquezas? (v. 1-3)</a:t>
            </a:r>
            <a:endParaRPr lang="pt-PT" sz="310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7F8D8BB-D60D-5B7C-E65B-9A834A484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589" y="2238998"/>
            <a:ext cx="11408635" cy="412715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2800" b="1" dirty="0">
                <a:latin typeface="Google Sans"/>
              </a:rPr>
              <a:t>Dupla Cidadania: </a:t>
            </a:r>
            <a:r>
              <a:rPr lang="pt-PT" altLang="pt-PT" sz="2800" dirty="0">
                <a:latin typeface="Google Sans"/>
              </a:rPr>
              <a:t>Os crentes estão </a:t>
            </a:r>
            <a:r>
              <a:rPr lang="pt-PT" altLang="pt-PT" sz="2800" i="1" dirty="0">
                <a:latin typeface="Google Sans"/>
              </a:rPr>
              <a:t>"em Éfeso" </a:t>
            </a:r>
            <a:r>
              <a:rPr lang="pt-PT" altLang="pt-PT" sz="2800" dirty="0">
                <a:latin typeface="Google Sans"/>
              </a:rPr>
              <a:t>(endereço terreno) e "em Cristo" (endereço celestial). </a:t>
            </a:r>
            <a:r>
              <a:rPr lang="pt-PT" sz="2800" dirty="0"/>
              <a:t>Paulo apresenta-se como apóstolo "pela vontade de Deus“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2800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2800" b="1" dirty="0">
                <a:latin typeface="Google Sans"/>
              </a:rPr>
              <a:t>A Natureza dos Bens: </a:t>
            </a:r>
            <a:r>
              <a:rPr lang="pt-PT" altLang="pt-PT" sz="2800" dirty="0">
                <a:latin typeface="Google Sans"/>
              </a:rPr>
              <a:t>Bens espirituais, não necessariamente materiais.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2800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2800" b="1" dirty="0">
                <a:latin typeface="Google Sans"/>
              </a:rPr>
              <a:t>A Esfera de Realidade: </a:t>
            </a:r>
            <a:r>
              <a:rPr lang="pt-PT" altLang="pt-PT" sz="2800" i="1" dirty="0">
                <a:latin typeface="Google Sans"/>
              </a:rPr>
              <a:t>"Nas regiões celestiais" </a:t>
            </a:r>
            <a:r>
              <a:rPr lang="pt-PT" altLang="pt-PT" sz="2800" dirty="0">
                <a:latin typeface="Google Sans"/>
              </a:rPr>
              <a:t>– uma realidade espiritual presente que transforma o nosso viver diário.</a:t>
            </a:r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2410347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45E50-6D69-CDE9-3A16-A9C867F8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53F88-DF5D-211B-DFDC-0A6282E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02050"/>
            <a:ext cx="12192000" cy="909659"/>
          </a:xfrm>
        </p:spPr>
        <p:txBody>
          <a:bodyPr>
            <a:normAutofit fontScale="90000"/>
          </a:bodyPr>
          <a:lstStyle/>
          <a:p>
            <a:pPr algn="ctr"/>
            <a:r>
              <a:rPr lang="pt-PT" sz="4000" b="1" dirty="0"/>
              <a:t>Planeados na Eternidade (Bênçãos do Pai)</a:t>
            </a:r>
            <a:br>
              <a:rPr lang="pt-PT" b="1" dirty="0"/>
            </a:br>
            <a:r>
              <a:rPr lang="pt-PT" b="1" dirty="0"/>
              <a:t>A Obra de Deus, o Pai (v. 4-6)</a:t>
            </a:r>
            <a:br>
              <a:rPr lang="pt-PT" dirty="0"/>
            </a:br>
            <a:br>
              <a:rPr lang="pt-PT" sz="2200" dirty="0"/>
            </a:br>
            <a:endParaRPr lang="pt-PT" sz="220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4535E51-328F-2499-BDE0-82A97BC1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101" y="1909986"/>
            <a:ext cx="11331721" cy="4460905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PT" altLang="pt-PT" sz="1900" dirty="0">
              <a:latin typeface="Google San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2800" b="1" dirty="0">
                <a:latin typeface="Google Sans"/>
              </a:rPr>
              <a:t>A</a:t>
            </a:r>
            <a:r>
              <a:rPr lang="pt-PT" altLang="pt-PT" sz="2800" dirty="0">
                <a:latin typeface="Google Sans"/>
              </a:rPr>
              <a:t> </a:t>
            </a:r>
            <a:r>
              <a:rPr lang="pt-PT" sz="2800" b="1" dirty="0"/>
              <a:t>Eleição (v. 4):</a:t>
            </a:r>
            <a:r>
              <a:rPr lang="pt-PT" sz="2800" dirty="0"/>
              <a:t> Escolhidos antes da criação do mundo para viver em santidade.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2800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sz="2800" b="1" dirty="0"/>
              <a:t>A Adoção (v. 5):</a:t>
            </a:r>
            <a:r>
              <a:rPr lang="pt-PT" sz="2800" dirty="0"/>
              <a:t> Integrados legalmente na família de Deus, com plenos direitos de filhos.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sz="2800" b="1" dirty="0"/>
              <a:t>A</a:t>
            </a:r>
            <a:r>
              <a:rPr lang="pt-PT" sz="2800" dirty="0"/>
              <a:t> </a:t>
            </a:r>
            <a:r>
              <a:rPr lang="pt-PT" sz="2800" b="1" dirty="0"/>
              <a:t>Aceitação (v. 6):</a:t>
            </a:r>
            <a:r>
              <a:rPr lang="pt-PT" sz="2800" dirty="0"/>
              <a:t> Recebidos gratuitamente através dos méritos "do Amado" (Jesus).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D376462F-82A5-88CA-746D-FA7E1E2DAC06}"/>
              </a:ext>
            </a:extLst>
          </p:cNvPr>
          <p:cNvSpPr txBox="1">
            <a:spLocks/>
          </p:cNvSpPr>
          <p:nvPr/>
        </p:nvSpPr>
        <p:spPr>
          <a:xfrm>
            <a:off x="299101" y="6255521"/>
            <a:ext cx="11408635" cy="487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PT" b="1" dirty="0"/>
              <a:t>O propósito final do Pai é o louvor da glória da Sua graça.</a:t>
            </a:r>
            <a:endParaRPr lang="pt-PT" altLang="pt-PT" sz="3200" b="1" dirty="0">
              <a:latin typeface="Google San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64536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374C7-4C3D-1F01-ABE7-C4ABF685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E20F10-BEC1-02D9-3977-06686B7D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58" y="953324"/>
            <a:ext cx="11921383" cy="1302766"/>
          </a:xfrm>
        </p:spPr>
        <p:txBody>
          <a:bodyPr>
            <a:normAutofit fontScale="90000"/>
          </a:bodyPr>
          <a:lstStyle/>
          <a:p>
            <a:pPr algn="ctr"/>
            <a:r>
              <a:rPr lang="pt-PT" sz="4000" b="1" dirty="0"/>
              <a:t>Comprados na Cruz (Bênçãos do Filho) </a:t>
            </a:r>
            <a:br>
              <a:rPr lang="pt-PT" b="1" dirty="0"/>
            </a:br>
            <a:r>
              <a:rPr lang="pt-PT" b="1" dirty="0"/>
              <a:t>A Obra de Deus, o Filho (v. 7-12</a:t>
            </a:r>
            <a:r>
              <a:rPr lang="pt-PT" dirty="0"/>
              <a:t>)</a:t>
            </a:r>
            <a:br>
              <a:rPr lang="pt-PT" dirty="0"/>
            </a:br>
            <a:br>
              <a:rPr lang="pt-PT" sz="2200" dirty="0"/>
            </a:br>
            <a:endParaRPr lang="pt-PT" sz="220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C938B2F-E7B0-768A-084D-5E635328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159" y="1889758"/>
            <a:ext cx="11408635" cy="4194847"/>
          </a:xfrm>
        </p:spPr>
        <p:txBody>
          <a:bodyPr>
            <a:normAutofit fontScale="85000" lnSpcReduction="1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PT" altLang="pt-PT" sz="2600" dirty="0">
              <a:latin typeface="Google San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sz="3200" b="1" dirty="0">
                <a:latin typeface="Google Sans"/>
              </a:rPr>
              <a:t>Redenção (v.7): </a:t>
            </a:r>
            <a:r>
              <a:rPr lang="pt-PT" sz="3200" dirty="0">
                <a:latin typeface="Google Sans"/>
              </a:rPr>
              <a:t>Fomos resgatados do cativeiro do pecado; o preço pago foi o sangue de Jesus.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sz="3200" dirty="0">
              <a:latin typeface="Google San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sz="3200" b="1" dirty="0">
                <a:latin typeface="Google Sans"/>
              </a:rPr>
              <a:t>Perdão (v.7): </a:t>
            </a:r>
            <a:r>
              <a:rPr lang="pt-PT" sz="3200" dirty="0">
                <a:latin typeface="Google Sans"/>
              </a:rPr>
              <a:t>As nossas transgressões foram totalmente levadas embora.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sz="3200" dirty="0">
              <a:latin typeface="Google San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sz="3200" dirty="0">
                <a:latin typeface="Google Sans"/>
              </a:rPr>
              <a:t> </a:t>
            </a:r>
            <a:r>
              <a:rPr lang="pt-PT" sz="3200" b="1" dirty="0">
                <a:latin typeface="Google Sans"/>
              </a:rPr>
              <a:t>Unidade Cósmica (v.10): </a:t>
            </a:r>
            <a:r>
              <a:rPr lang="pt-PT" sz="3200" dirty="0">
                <a:latin typeface="Google Sans"/>
              </a:rPr>
              <a:t>O plano de Deus de fazer convergir todas as coisas em Cristo.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sz="3200" dirty="0">
              <a:latin typeface="Google San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sz="3200" b="1" dirty="0">
                <a:latin typeface="Google Sans"/>
              </a:rPr>
              <a:t>Somos Herança (v.11): </a:t>
            </a:r>
            <a:r>
              <a:rPr lang="pt-PT" sz="3200" dirty="0">
                <a:latin typeface="Google Sans"/>
              </a:rPr>
              <a:t>Nós somos a porção e o tesouro valioso de Deus.</a:t>
            </a:r>
          </a:p>
        </p:txBody>
      </p:sp>
    </p:spTree>
    <p:extLst>
      <p:ext uri="{BB962C8B-B14F-4D97-AF65-F5344CB8AC3E}">
        <p14:creationId xmlns:p14="http://schemas.microsoft.com/office/powerpoint/2010/main" val="2994052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160B-33CE-72F6-5599-892A2F97C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AF1ED-2505-48EE-AC15-ADC7954B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02" y="876412"/>
            <a:ext cx="11656464" cy="1302766"/>
          </a:xfrm>
        </p:spPr>
        <p:txBody>
          <a:bodyPr>
            <a:normAutofit fontScale="90000"/>
          </a:bodyPr>
          <a:lstStyle/>
          <a:p>
            <a:pPr algn="ctr"/>
            <a:r>
              <a:rPr lang="pt-PT" sz="4000" b="1" dirty="0"/>
              <a:t>Garantidos no Presente (Bênçãos do Espírito)</a:t>
            </a:r>
            <a:br>
              <a:rPr lang="pt-PT" sz="4000" b="1" dirty="0"/>
            </a:br>
            <a:r>
              <a:rPr lang="pt-PT" b="1" dirty="0"/>
              <a:t>A Obra de Deus, o Espírito Santo (v. 13-14)</a:t>
            </a:r>
            <a:br>
              <a:rPr lang="pt-PT" sz="2200" dirty="0"/>
            </a:br>
            <a:br>
              <a:rPr lang="pt-PT" sz="3600" dirty="0"/>
            </a:br>
            <a:br>
              <a:rPr lang="pt-PT" sz="3600" dirty="0"/>
            </a:b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6B234A5-9FCE-F89E-64EC-70C3BB456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434" y="2068081"/>
            <a:ext cx="11408635" cy="4084422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PT" sz="3200" b="1" dirty="0">
                <a:latin typeface="Google Sans"/>
              </a:rPr>
              <a:t> O processo: </a:t>
            </a:r>
            <a:r>
              <a:rPr lang="pt-PT" sz="3200" dirty="0">
                <a:latin typeface="Google Sans"/>
              </a:rPr>
              <a:t>Ouvir a verdade      Crer em Cristo      Ser selado.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PT" sz="3200" dirty="0">
              <a:latin typeface="Google San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sz="3200" b="1" dirty="0">
                <a:latin typeface="Google Sans"/>
              </a:rPr>
              <a:t> O Selo do Espírito: </a:t>
            </a:r>
            <a:r>
              <a:rPr lang="pt-PT" sz="3200" dirty="0">
                <a:latin typeface="Google Sans"/>
              </a:rPr>
              <a:t>Representa a conclusão do negócio, a propriedade exclusiva de Deus e a nossa segurança eterna.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sz="3200" dirty="0">
              <a:latin typeface="Google San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sz="3200" b="1" dirty="0">
                <a:latin typeface="Google Sans"/>
              </a:rPr>
              <a:t>O Penhor (</a:t>
            </a:r>
            <a:r>
              <a:rPr lang="pt-PT" sz="3200" b="1" dirty="0" err="1">
                <a:latin typeface="Google Sans"/>
              </a:rPr>
              <a:t>Arrabon</a:t>
            </a:r>
            <a:r>
              <a:rPr lang="pt-PT" sz="3200" b="1" dirty="0">
                <a:latin typeface="Google Sans"/>
              </a:rPr>
              <a:t>): </a:t>
            </a:r>
            <a:r>
              <a:rPr lang="pt-PT" sz="3200" dirty="0">
                <a:latin typeface="Google Sans"/>
              </a:rPr>
              <a:t>A primeira prestação ou “anel de noivado” que garante a consumação da nossa herança no céu.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sz="2800" b="1" dirty="0"/>
          </a:p>
        </p:txBody>
      </p:sp>
      <p:cxnSp>
        <p:nvCxnSpPr>
          <p:cNvPr id="5" name="Conexão reta unidirecional 4">
            <a:extLst>
              <a:ext uri="{FF2B5EF4-FFF2-40B4-BE49-F238E27FC236}">
                <a16:creationId xmlns:a16="http://schemas.microsoft.com/office/drawing/2014/main" id="{DA845248-B234-E8CF-AD41-9737753A39EC}"/>
              </a:ext>
            </a:extLst>
          </p:cNvPr>
          <p:cNvCxnSpPr/>
          <p:nvPr/>
        </p:nvCxnSpPr>
        <p:spPr>
          <a:xfrm>
            <a:off x="5571858" y="2367185"/>
            <a:ext cx="222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A176146E-6620-D84D-F216-1639EBBC84F4}"/>
              </a:ext>
            </a:extLst>
          </p:cNvPr>
          <p:cNvCxnSpPr/>
          <p:nvPr/>
        </p:nvCxnSpPr>
        <p:spPr>
          <a:xfrm>
            <a:off x="8426154" y="2367185"/>
            <a:ext cx="222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12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1FE3-981C-65EE-A291-0B54DC07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032FC-A442-2EE9-907D-2470DF42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876412"/>
            <a:ext cx="9603275" cy="1020754"/>
          </a:xfrm>
        </p:spPr>
        <p:txBody>
          <a:bodyPr>
            <a:normAutofit fontScale="90000"/>
          </a:bodyPr>
          <a:lstStyle/>
          <a:p>
            <a:pPr algn="ctr"/>
            <a:r>
              <a:rPr lang="pt-PT" sz="4000" b="1" dirty="0"/>
              <a:t>Conclusão e Aplicação</a:t>
            </a:r>
            <a:br>
              <a:rPr lang="pt-PT" dirty="0">
                <a:latin typeface="Google Sans"/>
              </a:rPr>
            </a:br>
            <a:r>
              <a:rPr lang="pt-PT" b="1" dirty="0"/>
              <a:t>Como Vive o Povo Mais Rico do Mundo?</a:t>
            </a:r>
            <a:br>
              <a:rPr lang="pt-PT" sz="3600" dirty="0">
                <a:latin typeface="Google Sans"/>
              </a:rPr>
            </a:br>
            <a:br>
              <a:rPr lang="pt-PT" sz="3600" dirty="0">
                <a:latin typeface="Google Sans"/>
              </a:rPr>
            </a:br>
            <a:endParaRPr lang="pt-PT" dirty="0">
              <a:latin typeface="Google Sans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84AE788-9CAF-E265-5245-0A54B1116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102" y="1991170"/>
            <a:ext cx="11408635" cy="3990417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3200" dirty="0">
                <a:latin typeface="Google Sans"/>
              </a:rPr>
              <a:t> </a:t>
            </a:r>
            <a:r>
              <a:rPr lang="pt-PT" altLang="pt-PT" sz="3200" b="1" dirty="0">
                <a:latin typeface="Google Sans"/>
              </a:rPr>
              <a:t>Olhar além das circunstâncias: </a:t>
            </a:r>
            <a:r>
              <a:rPr lang="pt-PT" altLang="pt-PT" sz="3200" dirty="0">
                <a:latin typeface="Google Sans"/>
              </a:rPr>
              <a:t>Paulo estava preso, mas sentia-se rico; nós não dependemos das crises terrenas.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3200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3200" dirty="0">
                <a:latin typeface="Google Sans"/>
              </a:rPr>
              <a:t> </a:t>
            </a:r>
            <a:r>
              <a:rPr lang="pt-PT" altLang="pt-PT" sz="3200" b="1" dirty="0">
                <a:latin typeface="Google Sans"/>
              </a:rPr>
              <a:t>Viver em Santidade: </a:t>
            </a:r>
            <a:r>
              <a:rPr lang="pt-PT" altLang="pt-PT" sz="3200" dirty="0">
                <a:latin typeface="Google Sans"/>
              </a:rPr>
              <a:t>A nossa riqueza espiritual exige uma conduta digna (</a:t>
            </a:r>
            <a:r>
              <a:rPr lang="pt-PT" altLang="pt-PT" sz="3200" dirty="0" err="1">
                <a:latin typeface="Google Sans"/>
              </a:rPr>
              <a:t>ortopraxias</a:t>
            </a:r>
            <a:r>
              <a:rPr lang="pt-PT" altLang="pt-PT" sz="3200" dirty="0">
                <a:latin typeface="Google Sans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3200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PT" altLang="pt-PT" sz="3200" dirty="0">
                <a:latin typeface="Google Sans"/>
              </a:rPr>
              <a:t> </a:t>
            </a:r>
            <a:r>
              <a:rPr lang="pt-PT" altLang="pt-PT" sz="3200" b="1" dirty="0">
                <a:latin typeface="Google Sans"/>
              </a:rPr>
              <a:t>Adoração continua: </a:t>
            </a:r>
            <a:r>
              <a:rPr lang="pt-PT" altLang="pt-PT" sz="3200" dirty="0">
                <a:latin typeface="Google Sans"/>
              </a:rPr>
              <a:t>Toda  riqueza provém da Trindade e deve retornar a Deus em forma de glória e louvor.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C77C8965-AB06-98C8-79F2-68528986F53B}"/>
              </a:ext>
            </a:extLst>
          </p:cNvPr>
          <p:cNvSpPr txBox="1">
            <a:spLocks/>
          </p:cNvSpPr>
          <p:nvPr/>
        </p:nvSpPr>
        <p:spPr>
          <a:xfrm>
            <a:off x="484263" y="6178610"/>
            <a:ext cx="11408635" cy="5982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PT" altLang="pt-PT" sz="2600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389049600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eria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1329</TotalTime>
  <Words>546</Words>
  <Application>Microsoft Office PowerPoint</Application>
  <PresentationFormat>Ecrã Panorâmico</PresentationFormat>
  <Paragraphs>45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Google Sans</vt:lpstr>
      <vt:lpstr>Galeria</vt:lpstr>
      <vt:lpstr>Estudo Bíblico Efésios 1:1-14</vt:lpstr>
      <vt:lpstr>Introdução à Carta O Contexto de Efésios</vt:lpstr>
      <vt:lpstr>O Nosso Endereço Espiritual Onde Estão as Nossas Riquezas? (v. 1-3)</vt:lpstr>
      <vt:lpstr>Planeados na Eternidade (Bênçãos do Pai) A Obra de Deus, o Pai (v. 4-6)  </vt:lpstr>
      <vt:lpstr>Comprados na Cruz (Bênçãos do Filho)  A Obra de Deus, o Filho (v. 7-12)  </vt:lpstr>
      <vt:lpstr>Garantidos no Presente (Bênçãos do Espírito) A Obra de Deus, o Espírito Santo (v. 13-14)   </vt:lpstr>
      <vt:lpstr>Conclusão e Aplicação Como Vive o Povo Mais Rico do Mundo?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Jaldeon Calixto dos Santos Filho</dc:creator>
  <cp:lastModifiedBy>Jaldeon Calixto dos Santos Filho</cp:lastModifiedBy>
  <cp:revision>10</cp:revision>
  <dcterms:created xsi:type="dcterms:W3CDTF">2026-06-05T11:29:31Z</dcterms:created>
  <dcterms:modified xsi:type="dcterms:W3CDTF">2026-07-03T15:55:34Z</dcterms:modified>
</cp:coreProperties>
</file>